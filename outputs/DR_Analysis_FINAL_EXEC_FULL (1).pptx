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Executive Summary – Corrected Architecture 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Key Findings</a:t>
            </a:r>
          </a:p>
          <a:p>
            <a:r>
              <a:t>Zerto replication = dominant traffic driver (~75% from 10.200.94.x)</a:t>
            </a:r>
          </a:p>
          <a:p>
            <a:r>
              <a:t>Destination range 10.220.68.x contains both Zerto + active applications</a:t>
            </a:r>
          </a:p>
          <a:p>
            <a:r>
              <a:t>Cost must be understood at application/destination level</a:t>
            </a:r>
          </a:p>
          <a:p>
            <a:br/>
            <a:r>
              <a:t>Primary Cost Drivers</a:t>
            </a:r>
          </a:p>
          <a:p>
            <a:r>
              <a:t>Cross-AZ inspection (GWLB behavior)</a:t>
            </a:r>
          </a:p>
          <a:p>
            <a:r>
              <a:t>Extrahop mirroring cost</a:t>
            </a:r>
          </a:p>
          <a:p>
            <a:r>
              <a:t>High-churn Zerto replication workloads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Application &amp; Flow-Level 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Zerto Destinations</a:t>
            </a:r>
          </a:p>
          <a:p>
            <a:r>
              <a:t>Empower → 10.220.68.32/28</a:t>
            </a:r>
          </a:p>
          <a:p>
            <a:r>
              <a:t>Chromeleon → 10.220.68.48/28</a:t>
            </a:r>
          </a:p>
          <a:p>
            <a:r>
              <a:t>eSlideManager → 10.220.68.128/28</a:t>
            </a:r>
          </a:p>
          <a:p>
            <a:r>
              <a:t>Provantis → 10.220.68.240/28</a:t>
            </a:r>
          </a:p>
          <a:p>
            <a:br/>
            <a:r>
              <a:t>Remaining traffic = active apps (Prima etc.)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Optimization Opportunities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Zerto Optimization</a:t>
            </a:r>
          </a:p>
          <a:p>
            <a:r>
              <a:t>Remove Oracle TEMP replication</a:t>
            </a:r>
          </a:p>
          <a:p>
            <a:r>
              <a:t>Exclude SQL TEMP volumes</a:t>
            </a:r>
          </a:p>
          <a:p>
            <a:r>
              <a:t>Reduce Citrix churn</a:t>
            </a:r>
          </a:p>
          <a:p>
            <a:r>
              <a:t>Restructure VPGs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Architecture Flow &amp; Cost Drivers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Flow</a:t>
            </a:r>
          </a:p>
          <a:p>
            <a:r>
              <a:t>On-Prem → SDWAN → TGW</a:t>
            </a:r>
          </a:p>
          <a:p>
            <a:r>
              <a:t>→ GWLB → PA (AZ1/AZ2 split)</a:t>
            </a:r>
          </a:p>
          <a:p>
            <a:r>
              <a:t>→ Zerto VRA → S3</a:t>
            </a:r>
          </a:p>
          <a:p>
            <a:br/>
            <a:r>
              <a:t>Cost Points</a:t>
            </a:r>
          </a:p>
          <a:p>
            <a:r>
              <a:t>Cross-AZ at GWLB/PA (~50%)</a:t>
            </a:r>
          </a:p>
          <a:p>
            <a:r>
              <a:t>Extrahop mirroring</a:t>
            </a:r>
          </a:p>
          <a:p>
            <a:r>
              <a:t>No cost after PA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Cost Attribution &amp; Driver Breakdown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Primary Cost Components</a:t>
            </a:r>
          </a:p>
          <a:p>
            <a:r>
              <a:t>ZERTO Replication Traffic (majority of total volume)</a:t>
            </a:r>
          </a:p>
          <a:p>
            <a:r>
              <a:t>GWLB + Palo Alto Inspection (cross-AZ processing ~50%)</a:t>
            </a:r>
          </a:p>
          <a:p>
            <a:r>
              <a:t>Extrahop Traffic Mirroring (source + GWLB cost)</a:t>
            </a:r>
          </a:p>
          <a:p>
            <a:br/>
            <a:r>
              <a:t>Relative Contribution (Directional)</a:t>
            </a:r>
          </a:p>
          <a:p>
            <a:r>
              <a:t>ZERTO Data Transfer → High volume driver</a:t>
            </a:r>
          </a:p>
          <a:p>
            <a:r>
              <a:t>Inspection (GWLB/PA) → Amplifies cost due to AZ distribution</a:t>
            </a:r>
          </a:p>
          <a:p>
            <a:r>
              <a:t>Extrahop → Additional overhead but fixable</a:t>
            </a:r>
          </a:p>
          <a:p>
            <a:br/>
            <a:r>
              <a:t>Key Optimization Levers</a:t>
            </a:r>
          </a:p>
          <a:p>
            <a:r>
              <a:t>Reduce ZERTO replication scope (TEMP data, churn workloads)</a:t>
            </a:r>
          </a:p>
          <a:p>
            <a:r>
              <a:t>Optimize Extrahop architecture (add AZ2 sensor)</a:t>
            </a:r>
          </a:p>
          <a:p>
            <a:r>
              <a:t>Evaluate PA scaling vs inspection cost tradeoff</a:t>
            </a:r>
          </a:p>
          <a:p>
            <a:br/>
            <a:r>
              <a:t>Executive Insight</a:t>
            </a:r>
          </a:p>
          <a:p>
            <a:r>
              <a:t>Majority of savings will come from reducing replicated data (ZERTO) rather than altering core network architecture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(4:3)</PresentationFormat>
  <Paragraphs>0</Paragraphs>
  <Slides>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6" baseType="lpstr">
      <vt:lpstr>Office Theme</vt:lpstr>
      <vt:lpstr>Executive Summary – Corrected Architecture View</vt:lpstr>
      <vt:lpstr>Application &amp; Flow-Level View</vt:lpstr>
      <vt:lpstr>Optimization Opportunities</vt:lpstr>
      <vt:lpstr>Architecture Flow &amp; Cost Drivers</vt:lpstr>
      <vt:lpstr>Cost Attribution &amp; Driver Breakdown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2</cp:revision>
  <dcterms:created xsi:type="dcterms:W3CDTF">2013-01-27T09:14:16Z</dcterms:created>
  <dcterms:modified xsi:type="dcterms:W3CDTF">2026-05-07T18:38:44Z</dcterms:modified>
  <cp:category/>
</cp:coreProperties>
</file>