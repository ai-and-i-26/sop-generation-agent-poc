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Trend &amp; Optimization Summary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680960" y="91440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868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OVERVIEW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74320" y="1188720"/>
            <a:ext cx="2834640" cy="713232"/>
          </a:xfrm>
          <a:prstGeom prst="rect">
            <a:avLst/>
          </a:prstGeom>
          <a:solidFill>
            <a:srgbClr val="E6F2E6"/>
          </a:solidFill>
          <a:ln w="12700">
            <a:solidFill>
              <a:srgbClr val="B7DF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88720"/>
            <a:ext cx="64008" cy="71323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243584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Monthly Cost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536192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stabilized post Feb '26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4320" y="1993392"/>
            <a:ext cx="2834640" cy="713232"/>
          </a:xfrm>
          <a:prstGeom prst="rect">
            <a:avLst/>
          </a:prstGeom>
          <a:solidFill>
            <a:srgbClr val="EBF3FB"/>
          </a:solidFill>
          <a:ln w="12700">
            <a:solidFill>
              <a:srgbClr val="B3D7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993392"/>
            <a:ext cx="64008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048256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Optimized via RI/SP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2340864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Post-March: complete coverage applied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337560" y="868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337560" y="1188720"/>
            <a:ext cx="2834640" cy="621792"/>
          </a:xfrm>
          <a:prstGeom prst="rect">
            <a:avLst/>
          </a:prstGeom>
          <a:solidFill>
            <a:srgbClr val="FDE7E9"/>
          </a:solidFill>
          <a:ln w="12700">
            <a:solidFill>
              <a:srgbClr val="F5C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37560" y="1188720"/>
            <a:ext cx="64008" cy="804672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93008" y="137160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C6C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43560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41648" y="1261872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Cost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041648" y="15910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→ V5 upgrade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833872" y="14447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1472184"/>
            <a:ext cx="219456" cy="21945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337560" y="1883664"/>
            <a:ext cx="2834640" cy="621792"/>
          </a:xfrm>
          <a:prstGeom prst="rect">
            <a:avLst/>
          </a:prstGeom>
          <a:solidFill>
            <a:srgbClr val="FDE7E9"/>
          </a:solidFill>
          <a:ln w="12700">
            <a:solidFill>
              <a:srgbClr val="F5C6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337560" y="1883664"/>
            <a:ext cx="64008" cy="804672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493008" y="2066544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C6C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213055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041648" y="1956816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041648" y="22860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5833872" y="213969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2167128"/>
            <a:ext cx="219456" cy="21945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3337560" y="2578608"/>
            <a:ext cx="2834640" cy="621792"/>
          </a:xfrm>
          <a:prstGeom prst="rect">
            <a:avLst/>
          </a:prstGeom>
          <a:solidFill>
            <a:srgbClr val="E6F2E6"/>
          </a:solidFill>
          <a:ln w="12700">
            <a:solidFill>
              <a:srgbClr val="B7DF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337560" y="2578608"/>
            <a:ext cx="64008" cy="80467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493008" y="276148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FB7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304" y="2825496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041648" y="2651760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License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4041648" y="29809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benefits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5833872" y="2834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1304" y="2862072"/>
            <a:ext cx="219456" cy="219456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3337560" y="3273552"/>
            <a:ext cx="2834640" cy="621792"/>
          </a:xfrm>
          <a:prstGeom prst="rect">
            <a:avLst/>
          </a:prstGeom>
          <a:solidFill>
            <a:srgbClr val="E6F2E6"/>
          </a:solidFill>
          <a:ln w="12700">
            <a:solidFill>
              <a:srgbClr val="B7DF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3337560" y="3273552"/>
            <a:ext cx="64008" cy="80467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3493008" y="345643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FB7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5304" y="3520440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041648" y="3346704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4041648" y="36758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850" dirty="0"/>
          </a:p>
        </p:txBody>
      </p:sp>
      <p:sp>
        <p:nvSpPr>
          <p:cNvPr id="46" name="Shape 36"/>
          <p:cNvSpPr/>
          <p:nvPr/>
        </p:nvSpPr>
        <p:spPr>
          <a:xfrm>
            <a:off x="5833872" y="35295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1304" y="3557016"/>
            <a:ext cx="219456" cy="21945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400800" y="868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ACTIONS</a:t>
            </a:r>
            <a:endParaRPr lang="en-US" sz="800" dirty="0"/>
          </a:p>
        </p:txBody>
      </p:sp>
      <p:sp>
        <p:nvSpPr>
          <p:cNvPr id="49" name="Shape 38"/>
          <p:cNvSpPr/>
          <p:nvPr/>
        </p:nvSpPr>
        <p:spPr>
          <a:xfrm>
            <a:off x="6400800" y="1188720"/>
            <a:ext cx="2487168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1261872"/>
            <a:ext cx="347472" cy="347472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912864" y="124358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52" name="Text 40"/>
          <p:cNvSpPr/>
          <p:nvPr/>
        </p:nvSpPr>
        <p:spPr>
          <a:xfrm>
            <a:off x="6492240" y="1645920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increase is structural — driven by V3→V5 SKU upgrade, not inefficiency. Baseline cost has shifted upward by design.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6400800" y="2807208"/>
            <a:ext cx="2487168" cy="960120"/>
          </a:xfrm>
          <a:prstGeom prst="rect">
            <a:avLst/>
          </a:prstGeom>
          <a:solidFill>
            <a:srgbClr val="EBF3FB"/>
          </a:solidFill>
          <a:ln w="12700">
            <a:solidFill>
              <a:srgbClr val="B3D7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42"/>
          <p:cNvSpPr/>
          <p:nvPr/>
        </p:nvSpPr>
        <p:spPr>
          <a:xfrm>
            <a:off x="6400800" y="2807208"/>
            <a:ext cx="64008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8816" y="2898648"/>
            <a:ext cx="329184" cy="329184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949440" y="28529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950" dirty="0"/>
          </a:p>
        </p:txBody>
      </p:sp>
      <p:sp>
        <p:nvSpPr>
          <p:cNvPr id="57" name="Text 44"/>
          <p:cNvSpPr/>
          <p:nvPr/>
        </p:nvSpPr>
        <p:spPr>
          <a:xfrm>
            <a:off x="6528816" y="3218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 cost-optimized post RI/SP. Future savings limited to storage &amp; governance improvements.</a:t>
            </a:r>
            <a:endParaRPr lang="en-US" sz="850" dirty="0"/>
          </a:p>
        </p:txBody>
      </p:sp>
      <p:sp>
        <p:nvSpPr>
          <p:cNvPr id="58" name="Shape 45"/>
          <p:cNvSpPr/>
          <p:nvPr/>
        </p:nvSpPr>
        <p:spPr>
          <a:xfrm>
            <a:off x="274320" y="3895344"/>
            <a:ext cx="598932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46"/>
          <p:cNvSpPr/>
          <p:nvPr/>
        </p:nvSpPr>
        <p:spPr>
          <a:xfrm>
            <a:off x="41148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60" name="Text 47"/>
          <p:cNvSpPr/>
          <p:nvPr/>
        </p:nvSpPr>
        <p:spPr>
          <a:xfrm>
            <a:off x="411480" y="4206240"/>
            <a:ext cx="5760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storage optimization  →  Implement governance controls  →  Monitor RI/SP coverage post-March</a:t>
            </a:r>
            <a:endParaRPr lang="en-US" sz="850" dirty="0"/>
          </a:p>
        </p:txBody>
      </p:sp>
      <p:sp>
        <p:nvSpPr>
          <p:cNvPr id="61" name="Shape 4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Text 49"/>
          <p:cNvSpPr/>
          <p:nvPr/>
        </p:nvSpPr>
        <p:spPr>
          <a:xfrm>
            <a:off x="365760" y="4978908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Azure Cost Analysis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2026-05-12T13:41:29Z</dcterms:created>
  <dcterms:modified xsi:type="dcterms:W3CDTF">2026-05-12T13:41:29Z</dcterms:modified>
</cp:coreProperties>
</file>